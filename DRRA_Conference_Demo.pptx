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0D1B2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008BFF"/>
                </a:solidFill>
              </a:rPr>
              <a:t>DRRA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</a:rPr>
              <a:t>Distributed Resilience &amp; Recovery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0BEC5"/>
                </a:solidFill>
              </a:rPr>
              <a:t>Ransomware Defense — Live Demo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572000"/>
            <a:ext cx="5760720" cy="548640"/>
          </a:xfrm>
          <a:prstGeom prst="rect">
            <a:avLst/>
          </a:prstGeom>
          <a:solidFill>
            <a:srgbClr val="008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457200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  Detect  •  Isolate  •  Recover  •  Prove It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EC5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3B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Ransomware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2560320" cy="2011680"/>
          </a:xfrm>
          <a:prstGeom prst="rect">
            <a:avLst/>
          </a:prstGeom>
          <a:solidFill>
            <a:srgbClr val="1A2B3C"/>
          </a:solidFill>
          <a:ln w="2540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3B3B"/>
                </a:solidFill>
              </a:rPr>
              <a:t>$4.9M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116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BEC5"/>
                </a:solidFill>
              </a:rPr>
              <a:t>Average ransom
payment (2024)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005840"/>
            <a:ext cx="2560320" cy="2011680"/>
          </a:xfrm>
          <a:prstGeom prst="rect">
            <a:avLst/>
          </a:prstGeom>
          <a:solidFill>
            <a:srgbClr val="1A2B3C"/>
          </a:solidFill>
          <a:ln w="2540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1097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3B3B"/>
                </a:solidFill>
              </a:rPr>
              <a:t>21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0116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BEC5"/>
                </a:solidFill>
              </a:rPr>
              <a:t>Average downtime
after attack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05840"/>
            <a:ext cx="2560320" cy="2011680"/>
          </a:xfrm>
          <a:prstGeom prst="rect">
            <a:avLst/>
          </a:prstGeom>
          <a:solidFill>
            <a:srgbClr val="1A2B3C"/>
          </a:solidFill>
          <a:ln w="2540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097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3B3B"/>
                </a:solidFill>
              </a:rPr>
              <a:t>83%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0116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BEC5"/>
                </a:solidFill>
              </a:rPr>
              <a:t>Orgs attacked
more than once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40" y="1005840"/>
            <a:ext cx="2560320" cy="2011680"/>
          </a:xfrm>
          <a:prstGeom prst="rect">
            <a:avLst/>
          </a:prstGeom>
          <a:solidFill>
            <a:srgbClr val="1A2B3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097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0E676"/>
                </a:solidFill>
              </a:rPr>
              <a:t>&lt; 8 sec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0116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BEC5"/>
                </a:solidFill>
              </a:rPr>
              <a:t>DRRA detection
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91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Traditional defenses focus on prevention. DRRA focuses on defensibility — how fast you detect, contain, and recover.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8BFF"/>
                </a:solidFill>
              </a:rPr>
              <a:t>Prevention fails. Defensibility wins.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EC5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DRRA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2103120" cy="1828800"/>
          </a:xfrm>
          <a:prstGeom prst="rect">
            <a:avLst/>
          </a:prstGeom>
          <a:solidFill>
            <a:srgbClr val="1A2B3C"/>
          </a:solidFill>
          <a:ln w="2540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3B3B"/>
                </a:solidFill>
              </a:rPr>
              <a:t>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BEC5"/>
                </a:solidFill>
              </a:rPr>
              <a:t>Attack
Simulation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005840"/>
            <a:ext cx="2103120" cy="1828800"/>
          </a:xfrm>
          <a:prstGeom prst="rect">
            <a:avLst/>
          </a:prstGeom>
          <a:solidFill>
            <a:srgbClr val="1A2B3C"/>
          </a:solidFill>
          <a:ln w="2540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097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C300"/>
                </a:solidFill>
              </a:rPr>
              <a:t>WATCHER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7373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BEC5"/>
                </a:solidFill>
              </a:rPr>
              <a:t>File System
Monitor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005840"/>
            <a:ext cx="2103120" cy="1828800"/>
          </a:xfrm>
          <a:prstGeom prst="rect">
            <a:avLst/>
          </a:prstGeom>
          <a:solidFill>
            <a:srgbClr val="1A2B3C"/>
          </a:solidFill>
          <a:ln w="2540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097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8BFF"/>
                </a:solidFill>
              </a:rPr>
              <a:t>VIGIL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7373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BEC5"/>
                </a:solidFill>
              </a:rPr>
              <a:t>Behavioral
Detection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005840"/>
            <a:ext cx="2103120" cy="1828800"/>
          </a:xfrm>
          <a:prstGeom prst="rect">
            <a:avLst/>
          </a:prstGeom>
          <a:solidFill>
            <a:srgbClr val="1A2B3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1097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E676"/>
                </a:solidFill>
              </a:rPr>
              <a:t>SHIELD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7373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BEC5"/>
                </a:solidFill>
              </a:rPr>
              <a:t>Isolation &amp;
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8BFF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8BFF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8BFF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Infrastructure Layer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74720"/>
            <a:ext cx="1737360" cy="1005840"/>
          </a:xfrm>
          <a:prstGeom prst="rect">
            <a:avLst/>
          </a:prstGeom>
          <a:solidFill>
            <a:srgbClr val="122230"/>
          </a:solidFill>
          <a:ln w="1270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5204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Kafka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931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C5"/>
                </a:solidFill>
              </a:rPr>
              <a:t>Event Streaming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3474720"/>
            <a:ext cx="1737360" cy="1005840"/>
          </a:xfrm>
          <a:prstGeom prst="rect">
            <a:avLst/>
          </a:prstGeom>
          <a:solidFill>
            <a:srgbClr val="122230"/>
          </a:solidFill>
          <a:ln w="1270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35204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931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C5"/>
                </a:solidFill>
              </a:rPr>
              <a:t>Audit Logs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474720"/>
            <a:ext cx="1737360" cy="1005840"/>
          </a:xfrm>
          <a:prstGeom prst="rect">
            <a:avLst/>
          </a:prstGeom>
          <a:solidFill>
            <a:srgbClr val="122230"/>
          </a:solidFill>
          <a:ln w="1270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35204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MinIO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3931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C5"/>
                </a:solidFill>
              </a:rPr>
              <a:t>Immutable Storage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474720"/>
            <a:ext cx="1737360" cy="1005840"/>
          </a:xfrm>
          <a:prstGeom prst="rect">
            <a:avLst/>
          </a:prstGeom>
          <a:solidFill>
            <a:srgbClr val="122230"/>
          </a:solidFill>
          <a:ln w="1270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35204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Redis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3931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C5"/>
                </a:solidFill>
              </a:rPr>
              <a:t>Caching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3474720"/>
            <a:ext cx="1737360" cy="1005840"/>
          </a:xfrm>
          <a:prstGeom prst="rect">
            <a:avLst/>
          </a:prstGeom>
          <a:solidFill>
            <a:srgbClr val="122230"/>
          </a:solidFill>
          <a:ln w="1270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35204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Prometheus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3931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C5"/>
                </a:solidFill>
              </a:rPr>
              <a:t>Metrics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66960" y="3474720"/>
            <a:ext cx="1737360" cy="1005840"/>
          </a:xfrm>
          <a:prstGeom prst="rect">
            <a:avLst/>
          </a:prstGeom>
          <a:solidFill>
            <a:srgbClr val="122230"/>
          </a:solidFill>
          <a:ln w="1270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0" y="35204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Grafana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3931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C5"/>
                </a:solidFill>
              </a:rPr>
              <a:t>Dashboards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4709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BEC5"/>
                </a:solidFill>
              </a:rPr>
              <a:t>All services containerised with Docker Compose  •  REST API via FastAPI  •  Rust file watcher for low-latency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EC5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3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Live Demo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02920" cy="502920"/>
          </a:xfrm>
          <a:prstGeom prst="rect">
            <a:avLst/>
          </a:prstGeom>
          <a:solidFill>
            <a:srgbClr val="FF3B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005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FORGE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8BFF"/>
                </a:solidFill>
              </a:rPr>
              <a:t>POST /api/v1/forge/deploy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0515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Simulate honeypot ransomware attack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502920" cy="502920"/>
          </a:xfrm>
          <a:prstGeom prst="rect">
            <a:avLst/>
          </a:prstGeom>
          <a:solidFill>
            <a:srgbClr val="008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VIGIL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8BFF"/>
                </a:solidFill>
              </a:rPr>
              <a:t>GET  /api/v1/vigil/events?payload_id=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0574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3 signatures: entropy · VSS · lateral movement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17520"/>
            <a:ext cx="502920" cy="502920"/>
          </a:xfrm>
          <a:prstGeom prst="rect">
            <a:avLst/>
          </a:prstGeom>
          <a:solidFill>
            <a:srgbClr val="00E67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017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SHIELD Isolate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91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8BFF"/>
                </a:solidFill>
              </a:rPr>
              <a:t>POST /api/v1/shield/isolate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0632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VLAN micro-segmentation in seconds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23360"/>
            <a:ext cx="502920" cy="502920"/>
          </a:xfrm>
          <a:prstGeom prst="rect">
            <a:avLst/>
          </a:prstGeom>
          <a:solidFill>
            <a:srgbClr val="00E67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023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SHIELD Recovery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297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8BFF"/>
                </a:solidFill>
              </a:rPr>
              <a:t>POST /api/v1/shield/recovery/create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069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Automated snapshot restore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502920" cy="502920"/>
          </a:xfrm>
          <a:prstGeom prst="rect">
            <a:avLst/>
          </a:prstGeom>
          <a:solidFill>
            <a:srgbClr val="008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029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Defensibility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03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8BFF"/>
                </a:solidFill>
              </a:rPr>
              <a:t>GET  /api/v1/dashboard/defensibility-index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074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Score: 87/100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EC5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VIGIL — Behavioral Detection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486400" cy="2194560"/>
          </a:xfrm>
          <a:prstGeom prst="rect">
            <a:avLst/>
          </a:prstGeom>
          <a:solidFill>
            <a:srgbClr val="1A2B3C"/>
          </a:solidFill>
          <a:ln w="2540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3B3B"/>
                </a:solidFill>
              </a:rPr>
              <a:t>🔴  Mass Modification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5,420 files modified in 60s
Threshold: 15% — exceeded at 18%
Entropy Score: 0.89 (encryption confirmed)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05840"/>
            <a:ext cx="5486400" cy="2194560"/>
          </a:xfrm>
          <a:prstGeom prst="rect">
            <a:avLst/>
          </a:prstGeom>
          <a:solidFill>
            <a:srgbClr val="1A2B3C"/>
          </a:solidFill>
          <a:ln w="2540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0972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3B3B"/>
                </a:solidFill>
              </a:rPr>
              <a:t>🔴  VSS Admin Abuse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5544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Shadow copy deletion detected
Recovery prevention attempt
Confidence: 99%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474720"/>
            <a:ext cx="5486400" cy="2194560"/>
          </a:xfrm>
          <a:prstGeom prst="rect">
            <a:avLst/>
          </a:prstGeom>
          <a:solidFill>
            <a:srgbClr val="1A2B3C"/>
          </a:solidFill>
          <a:ln w="2540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566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C300"/>
                </a:solidFill>
              </a:rPr>
              <a:t>🟡  Lateral Movement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2336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Process chain: powershell → cmd
Cross-host credential reuse
Confidence: 91%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474720"/>
            <a:ext cx="5486400" cy="2194560"/>
          </a:xfrm>
          <a:prstGeom prst="rect">
            <a:avLst/>
          </a:prstGeom>
          <a:solidFill>
            <a:srgbClr val="1A2B3C"/>
          </a:solidFill>
          <a:ln w="2540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566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3B3B"/>
                </a:solidFill>
              </a:rPr>
              <a:t>🔴  Entropy Spike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02336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Shannon entropy &gt; 0.85
Indicates active file encryption
Detected across 3 file 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BEC5"/>
                </a:solidFill>
              </a:rPr>
              <a:t>ML-based behavioural analysis — detects zero-day ransomware without signature databases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EC5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67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Observability — Grafana + Prometheus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BFF"/>
                </a:solidFill>
              </a:rPr>
              <a:t>http://localhost:7600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474720" cy="1920240"/>
          </a:xfrm>
          <a:prstGeom prst="rect">
            <a:avLst/>
          </a:prstGeom>
          <a:solidFill>
            <a:srgbClr val="1A2B3C"/>
          </a:solidFill>
          <a:ln w="1905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474720" cy="411480"/>
          </a:xfrm>
          <a:prstGeom prst="rect">
            <a:avLst/>
          </a:prstGeom>
          <a:solidFill>
            <a:srgbClr val="008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Detection Latency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</a:rPr>
              <a:t>Real-time ms counter
from VIGIL events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474720" cy="1920240"/>
          </a:xfrm>
          <a:prstGeom prst="rect">
            <a:avLst/>
          </a:prstGeom>
          <a:solidFill>
            <a:srgbClr val="1A2B3C"/>
          </a:solidFill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3474720" cy="411480"/>
          </a:xfrm>
          <a:prstGeom prst="rect">
            <a:avLst/>
          </a:prstGeom>
          <a:solidFill>
            <a:srgbClr val="FF3B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Files Affected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6916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</a:rPr>
              <a:t>Rate of file modifications
per second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188720"/>
            <a:ext cx="3474720" cy="1920240"/>
          </a:xfrm>
          <a:prstGeom prst="rect">
            <a:avLst/>
          </a:prstGeom>
          <a:solidFill>
            <a:srgbClr val="1A2B3C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188720"/>
            <a:ext cx="3474720" cy="411480"/>
          </a:xfrm>
          <a:prstGeom prst="rect">
            <a:avLst/>
          </a:prstGeom>
          <a:solidFill>
            <a:srgbClr val="FFC3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Containment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6916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</a:rPr>
              <a:t>MTTC trend over time
Target: &lt; 60 seconds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74720"/>
            <a:ext cx="3474720" cy="1920240"/>
          </a:xfrm>
          <a:prstGeom prst="rect">
            <a:avLst/>
          </a:prstGeom>
          <a:solidFill>
            <a:srgbClr val="1A2B3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474720"/>
            <a:ext cx="3474720" cy="411480"/>
          </a:xfrm>
          <a:prstGeom prst="rect">
            <a:avLst/>
          </a:prstGeom>
          <a:solidFill>
            <a:srgbClr val="00E67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52043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Defensibility Index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77639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</a:rPr>
              <a:t>Live score gauge
0–100, higher = better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474720"/>
            <a:ext cx="3474720" cy="1920240"/>
          </a:xfrm>
          <a:prstGeom prst="rect">
            <a:avLst/>
          </a:prstGeom>
          <a:solidFill>
            <a:srgbClr val="1A2B3C"/>
          </a:solidFill>
          <a:ln w="1905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3474720"/>
            <a:ext cx="3474720" cy="411480"/>
          </a:xfrm>
          <a:prstGeom prst="rect">
            <a:avLst/>
          </a:prstGeom>
          <a:solidFill>
            <a:srgbClr val="008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352043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Kafka Throughput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977639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</a:rPr>
              <a:t>Events/sec through
the detection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474720"/>
            <a:ext cx="3474720" cy="1920240"/>
          </a:xfrm>
          <a:prstGeom prst="rect">
            <a:avLst/>
          </a:prstGeom>
          <a:solidFill>
            <a:srgbClr val="1A2B3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474720"/>
            <a:ext cx="3474720" cy="411480"/>
          </a:xfrm>
          <a:prstGeom prst="rect">
            <a:avLst/>
          </a:prstGeom>
          <a:solidFill>
            <a:srgbClr val="00E67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352043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Recovery 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977639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</a:rPr>
              <a:t>% data restored
from snapshot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BEC5"/>
                </a:solidFill>
              </a:rPr>
              <a:t>Prometheus scrapes metrics every 15s  •  Grafana provides real-time dashboards  •  Full audit trail in PostgreSQL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EC5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Defensibility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0BEC5"/>
                </a:solidFill>
              </a:rPr>
              <a:t>A single score that answers: How well did you defend?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280160"/>
            <a:ext cx="3566160" cy="2286000"/>
          </a:xfrm>
          <a:prstGeom prst="rect">
            <a:avLst/>
          </a:prstGeom>
          <a:solidFill>
            <a:srgbClr val="1A2B3C"/>
          </a:solidFill>
          <a:ln w="3810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0" y="13716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008BFF"/>
                </a:solidFill>
              </a:rPr>
              <a:t>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651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BEC5"/>
                </a:solidFill>
              </a:rPr>
              <a:t>out of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31089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E676"/>
                </a:solidFill>
              </a:rPr>
              <a:t>76th percentile vs industry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749039"/>
            <a:ext cx="3474720" cy="777240"/>
          </a:xfrm>
          <a:prstGeom prst="rect">
            <a:avLst/>
          </a:prstGeom>
          <a:solidFill>
            <a:srgbClr val="1A2B3C"/>
          </a:solidFill>
          <a:ln w="1905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8404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9" y="3840479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8BFF"/>
                </a:solidFill>
              </a:rPr>
              <a:t>92/100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3749039"/>
            <a:ext cx="3474720" cy="777240"/>
          </a:xfrm>
          <a:prstGeom prst="rect">
            <a:avLst/>
          </a:prstGeom>
          <a:solidFill>
            <a:srgbClr val="1A2B3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38404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840479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E676"/>
                </a:solidFill>
              </a:rPr>
              <a:t>85/100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754879"/>
            <a:ext cx="3474720" cy="777240"/>
          </a:xfrm>
          <a:prstGeom prst="rect">
            <a:avLst/>
          </a:prstGeom>
          <a:solidFill>
            <a:srgbClr val="1A2B3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8463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Recovery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79" y="4846319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E676"/>
                </a:solidFill>
              </a:rPr>
              <a:t>88/100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4754879"/>
            <a:ext cx="3474720" cy="777240"/>
          </a:xfrm>
          <a:prstGeom prst="rect">
            <a:avLst/>
          </a:prstGeom>
          <a:solidFill>
            <a:srgbClr val="1A2B3C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48463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Immutability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846319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C300"/>
                </a:solidFill>
              </a:rPr>
              <a:t>79/100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BEC5"/>
                </a:solidFill>
              </a:rPr>
              <a:t>Unlike CVE scores — higher is better. Guides security investment decisions.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EC5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67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Demo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474720" cy="1828800"/>
          </a:xfrm>
          <a:prstGeom prst="rect">
            <a:avLst/>
          </a:prstGeom>
          <a:solidFill>
            <a:srgbClr val="1A2B3C"/>
          </a:solidFill>
          <a:ln w="2540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⏱️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8BFF"/>
                </a:solidFill>
              </a:rPr>
              <a:t>8 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</a:rPr>
              <a:t>Detection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005840"/>
            <a:ext cx="3474720" cy="1828800"/>
          </a:xfrm>
          <a:prstGeom prst="rect">
            <a:avLst/>
          </a:prstGeom>
          <a:solidFill>
            <a:srgbClr val="1A2B3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097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463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E676"/>
                </a:solidFill>
              </a:rPr>
              <a:t>4 /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</a:rPr>
              <a:t>Attack Phases Caught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005840"/>
            <a:ext cx="3474720" cy="1828800"/>
          </a:xfrm>
          <a:prstGeom prst="rect">
            <a:avLst/>
          </a:prstGeom>
          <a:solidFill>
            <a:srgbClr val="1A2B3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097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463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E676"/>
                </a:solidFill>
              </a:rPr>
              <a:t>95%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</a:rPr>
              <a:t>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08960"/>
            <a:ext cx="3474720" cy="1828800"/>
          </a:xfrm>
          <a:prstGeom prst="rect">
            <a:avLst/>
          </a:prstGeom>
          <a:solidFill>
            <a:srgbClr val="1A2B3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661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E676"/>
                </a:solidFill>
              </a:rPr>
              <a:t>99.8%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</a:rPr>
              <a:t>Data Recovered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3108960"/>
            <a:ext cx="3474720" cy="1828800"/>
          </a:xfrm>
          <a:prstGeom prst="rect">
            <a:avLst/>
          </a:prstGeom>
          <a:solidFill>
            <a:srgbClr val="1A2B3C"/>
          </a:solidFill>
          <a:ln w="2540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5661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C300"/>
                </a:solidFill>
              </a:rPr>
              <a:t>$2.3M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</a:rPr>
              <a:t>Damage Prevented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3108960"/>
            <a:ext cx="3474720" cy="1828800"/>
          </a:xfrm>
          <a:prstGeom prst="rect">
            <a:avLst/>
          </a:prstGeom>
          <a:solidFill>
            <a:srgbClr val="1A2B3C"/>
          </a:solidFill>
          <a:ln w="2540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35661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8BFF"/>
                </a:solidFill>
              </a:rPr>
              <a:t>87 / 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</a:rPr>
              <a:t>Defensibility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303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BEC5"/>
                </a:solidFill>
              </a:rPr>
              <a:t>MTTC: 45s  (target: 60s)  •  False positive rate: &lt; 1%  •  Zero manual intervention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EC5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73152" cy="1005840"/>
          </a:xfrm>
          <a:prstGeom prst="rect">
            <a:avLst/>
          </a:prstGeom>
          <a:solidFill>
            <a:srgbClr val="008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8BFF"/>
                </a:solidFill>
              </a:rPr>
              <a:t>Automated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</a:rPr>
              <a:t>ML-based behavioural analysis catches zero-day ransomware in seconds — no signatures required.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31720"/>
            <a:ext cx="73152" cy="1005840"/>
          </a:xfrm>
          <a:prstGeom prst="rect">
            <a:avLst/>
          </a:prstGeom>
          <a:solidFill>
            <a:srgbClr val="FFC3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C300"/>
                </a:solidFill>
              </a:rPr>
              <a:t>Distributed &amp; Resilient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43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</a:rPr>
              <a:t>No single point of failure. Kafka, Redis, and PostgreSQL ensure the pipeline survives partial outages.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657600"/>
            <a:ext cx="73152" cy="1005840"/>
          </a:xfrm>
          <a:prstGeom prst="rect">
            <a:avLst/>
          </a:prstGeom>
          <a:solidFill>
            <a:srgbClr val="00E67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657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676"/>
                </a:solidFill>
              </a:rPr>
              <a:t>Recovery-First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69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</a:rPr>
              <a:t>Immutable MinIO storage and automated snapshot restore mean data is always recoverable.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983479"/>
            <a:ext cx="73152" cy="1005840"/>
          </a:xfrm>
          <a:prstGeom prst="rect">
            <a:avLst/>
          </a:prstGeom>
          <a:solidFill>
            <a:srgbClr val="FF3B3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9834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3B3B"/>
                </a:solidFill>
              </a:rPr>
              <a:t>Defensibility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94959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</a:rPr>
              <a:t>The Defensibility Index shifts focus from 'are we vulnerable?' to 'how well did we defend?'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EC5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Get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828800" cy="822960"/>
          </a:xfrm>
          <a:prstGeom prst="rect">
            <a:avLst/>
          </a:prstGeom>
          <a:solidFill>
            <a:srgbClr val="008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3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0972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BFF"/>
                </a:solidFill>
              </a:rPr>
              <a:t>github.com/nddmars/DRRA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5087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Star the repo, fork it, run it locally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1828800" cy="822960"/>
          </a:xfrm>
          <a:prstGeom prst="rect">
            <a:avLst/>
          </a:prstGeom>
          <a:solidFill>
            <a:srgbClr val="008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4688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API Docs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3317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BFF"/>
                </a:solidFill>
              </a:rPr>
              <a:t>localhost:8000/docs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743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Interactive Swagger UI — try every endpoint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66160"/>
            <a:ext cx="1828800" cy="822960"/>
          </a:xfrm>
          <a:prstGeom prst="rect">
            <a:avLst/>
          </a:prstGeom>
          <a:solidFill>
            <a:srgbClr val="008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Grafana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5661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BFF"/>
                </a:solidFill>
              </a:rPr>
              <a:t>localhost:7600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9776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Live metrics dashboard — Prometheus backed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800600"/>
            <a:ext cx="1828800" cy="822960"/>
          </a:xfrm>
          <a:prstGeom prst="rect">
            <a:avLst/>
          </a:prstGeom>
          <a:solidFill>
            <a:srgbClr val="008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937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Postman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8006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BFF"/>
                </a:solidFill>
              </a:rPr>
              <a:t>DRRA-Postman-Collection.json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5212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</a:rPr>
              <a:t>Import the collection — full demo in one click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5943600"/>
            <a:ext cx="9418320" cy="640080"/>
          </a:xfrm>
          <a:prstGeom prst="rect">
            <a:avLst/>
          </a:prstGeom>
          <a:solidFill>
            <a:srgbClr val="008B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9436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"DRRA shifts ransomware defense from reactive to proactive — measure what matters."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EC5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